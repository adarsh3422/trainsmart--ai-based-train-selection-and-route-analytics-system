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DAB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0" d="100"/>
          <a:sy n="80" d="100"/>
        </p:scale>
        <p:origin x="-678" y="5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589520" y="0"/>
            <a:ext cx="22860" cy="6858000"/>
          </a:xfrm>
          <a:prstGeom prst="rect">
            <a:avLst/>
          </a:prstGeom>
          <a:solidFill>
            <a:srgbClr val="12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156448" y="0"/>
            <a:ext cx="22860" cy="6858000"/>
          </a:xfrm>
          <a:prstGeom prst="rect">
            <a:avLst/>
          </a:prstGeom>
          <a:solidFill>
            <a:srgbClr val="12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723376" y="0"/>
            <a:ext cx="22860" cy="6858000"/>
          </a:xfrm>
          <a:prstGeom prst="rect">
            <a:avLst/>
          </a:prstGeom>
          <a:solidFill>
            <a:srgbClr val="12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290304" y="0"/>
            <a:ext cx="22860" cy="6858000"/>
          </a:xfrm>
          <a:prstGeom prst="rect">
            <a:avLst/>
          </a:prstGeom>
          <a:solidFill>
            <a:srgbClr val="12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857232" y="0"/>
            <a:ext cx="22860" cy="6858000"/>
          </a:xfrm>
          <a:prstGeom prst="rect">
            <a:avLst/>
          </a:prstGeom>
          <a:solidFill>
            <a:srgbClr val="12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424160" y="0"/>
            <a:ext cx="22860" cy="6858000"/>
          </a:xfrm>
          <a:prstGeom prst="rect">
            <a:avLst/>
          </a:prstGeom>
          <a:solidFill>
            <a:srgbClr val="12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60920" y="1005840"/>
            <a:ext cx="4114800" cy="32004"/>
          </a:xfrm>
          <a:prstGeom prst="rect">
            <a:avLst/>
          </a:prstGeom>
          <a:solidFill>
            <a:srgbClr val="27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60920" y="1627632"/>
            <a:ext cx="4114800" cy="32004"/>
          </a:xfrm>
          <a:prstGeom prst="rect">
            <a:avLst/>
          </a:prstGeom>
          <a:solidFill>
            <a:srgbClr val="27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60920" y="2249424"/>
            <a:ext cx="4114800" cy="32004"/>
          </a:xfrm>
          <a:prstGeom prst="rect">
            <a:avLst/>
          </a:prstGeom>
          <a:solidFill>
            <a:srgbClr val="27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60920" y="2871216"/>
            <a:ext cx="4114800" cy="32004"/>
          </a:xfrm>
          <a:prstGeom prst="rect">
            <a:avLst/>
          </a:prstGeom>
          <a:solidFill>
            <a:srgbClr val="27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60920" y="3493008"/>
            <a:ext cx="4114800" cy="32004"/>
          </a:xfrm>
          <a:prstGeom prst="rect">
            <a:avLst/>
          </a:prstGeom>
          <a:solidFill>
            <a:srgbClr val="27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60920" y="4114800"/>
            <a:ext cx="4114800" cy="32004"/>
          </a:xfrm>
          <a:prstGeom prst="rect">
            <a:avLst/>
          </a:prstGeom>
          <a:solidFill>
            <a:srgbClr val="27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60920" y="4736592"/>
            <a:ext cx="4114800" cy="32004"/>
          </a:xfrm>
          <a:prstGeom prst="rect">
            <a:avLst/>
          </a:prstGeom>
          <a:solidFill>
            <a:srgbClr val="27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60920" y="5358384"/>
            <a:ext cx="4114800" cy="32004"/>
          </a:xfrm>
          <a:prstGeom prst="rect">
            <a:avLst/>
          </a:prstGeom>
          <a:solidFill>
            <a:srgbClr val="27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549640" y="1143000"/>
            <a:ext cx="1828800" cy="182880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933688" y="1527048"/>
            <a:ext cx="1060704" cy="1060704"/>
          </a:xfrm>
          <a:prstGeom prst="ellipse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731520"/>
            <a:ext cx="36576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0C2A8"/>
                </a:solidFill>
                <a:latin typeface="Aptos"/>
              </a:rPr>
              <a:t>PROJECT PRESENTATION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1508760"/>
            <a:ext cx="6492240" cy="10058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Aptos"/>
              </a:rPr>
              <a:t>TrainSmart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" y="2560320"/>
            <a:ext cx="6217920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300" b="0" dirty="0">
                <a:solidFill>
                  <a:srgbClr val="D7E4EC"/>
                </a:solidFill>
                <a:latin typeface="Aptos"/>
              </a:rPr>
              <a:t>Train Selection &amp; Route Analytics System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" y="3675887"/>
            <a:ext cx="914400" cy="64008"/>
          </a:xfrm>
          <a:prstGeom prst="roundRect">
            <a:avLst>
              <a:gd name="adj" fmla="val 12000"/>
            </a:avLst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5528" y="3977639"/>
            <a:ext cx="603504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 data-driven way to compare train options by fare, journey time, stops and class.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5897880"/>
            <a:ext cx="45720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B4C8D5"/>
                </a:solidFill>
                <a:latin typeface="Aptos"/>
              </a:rPr>
              <a:t>Presented by: Adarsh Gupta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52760" y="6263640"/>
            <a:ext cx="9144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00C2A8"/>
                </a:solidFill>
                <a:latin typeface="Aptos"/>
              </a:rPr>
              <a:t>01 / 08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7242552-6CCF-0609-F38A-85836D298B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688" t="31218" b="14058"/>
          <a:stretch>
            <a:fillRect/>
          </a:stretch>
        </p:blipFill>
        <p:spPr>
          <a:xfrm>
            <a:off x="7219855" y="3675887"/>
            <a:ext cx="4396930" cy="1701922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C87EEA1B-546C-DB90-D337-1DA0B34131EB}"/>
              </a:ext>
            </a:extLst>
          </p:cNvPr>
          <p:cNvSpPr txBox="1"/>
          <p:nvPr/>
        </p:nvSpPr>
        <p:spPr>
          <a:xfrm>
            <a:off x="749808" y="3139678"/>
            <a:ext cx="4414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Smarter</a:t>
            </a:r>
            <a:r>
              <a:rPr lang="en-US" dirty="0">
                <a:solidFill>
                  <a:schemeClr val="bg1"/>
                </a:solidFill>
              </a:rPr>
              <a:t> Comparisons. Better Journeys.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00C2A8"/>
                </a:solidFill>
                <a:latin typeface="Aptos"/>
              </a:rPr>
              <a:t>01 /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900" b="1">
                <a:solidFill>
                  <a:srgbClr val="0B1F33"/>
                </a:solidFill>
                <a:latin typeface="Aptos"/>
              </a:rPr>
              <a:t>Why TrainSmart?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8813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5B6F81"/>
                </a:solidFill>
                <a:latin typeface="Aptos"/>
              </a:rPr>
              <a:t>Choosing a train can mean comparing several details across multiple options.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382512"/>
            <a:ext cx="10927080" cy="13716"/>
          </a:xfrm>
          <a:prstGeom prst="rect">
            <a:avLst/>
          </a:prstGeom>
          <a:solidFill>
            <a:srgbClr val="DE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446520"/>
            <a:ext cx="7315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5B6F81"/>
                </a:solidFill>
                <a:latin typeface="Aptos"/>
              </a:rPr>
              <a:t>TRAINSMART  •  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457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00C2A8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48840"/>
            <a:ext cx="3493008" cy="2971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2450592"/>
            <a:ext cx="530352" cy="530352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578608"/>
            <a:ext cx="53035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B1F33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29260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100" b="1">
                <a:solidFill>
                  <a:srgbClr val="0B1F33"/>
                </a:solidFill>
                <a:latin typeface="Aptos"/>
              </a:rPr>
              <a:t>Too many options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22191"/>
            <a:ext cx="2880360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0">
                <a:solidFill>
                  <a:srgbClr val="5B6F81"/>
                </a:solidFill>
                <a:latin typeface="Aptos"/>
              </a:rPr>
              <a:t>Different trains may vary in timing, fare, route and number of stops.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2148840"/>
            <a:ext cx="3493008" cy="2971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736592" y="2450592"/>
            <a:ext cx="530352" cy="530352"/>
          </a:xfrm>
          <a:prstGeom prst="ellipse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36592" y="2578608"/>
            <a:ext cx="53035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B1F33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3246120"/>
            <a:ext cx="29260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100" b="1">
                <a:solidFill>
                  <a:srgbClr val="0B1F33"/>
                </a:solidFill>
                <a:latin typeface="Aptos"/>
              </a:rPr>
              <a:t>Scattered details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3822191"/>
            <a:ext cx="2880360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0">
                <a:solidFill>
                  <a:srgbClr val="5B6F81"/>
                </a:solidFill>
                <a:latin typeface="Aptos"/>
              </a:rPr>
              <a:t>Comparing several attributes manually can take time and effort.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02752" y="2148840"/>
            <a:ext cx="3493008" cy="2971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558784" y="2450592"/>
            <a:ext cx="530352" cy="530352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58784" y="2578608"/>
            <a:ext cx="53035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B1F33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58784" y="3246120"/>
            <a:ext cx="29260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100" b="1">
                <a:solidFill>
                  <a:srgbClr val="0B1F33"/>
                </a:solidFill>
                <a:latin typeface="Aptos"/>
              </a:rPr>
              <a:t>Different priorities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58784" y="3822191"/>
            <a:ext cx="2880360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0">
                <a:solidFill>
                  <a:srgbClr val="5B6F81"/>
                </a:solidFill>
                <a:latin typeface="Aptos"/>
              </a:rPr>
              <a:t>Travellers may value a lower fare, shorter journey or fewer stops.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440680"/>
            <a:ext cx="10835640" cy="530352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577840"/>
            <a:ext cx="10332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Goal: make train comparison clearer, more consistent and easier to navigate.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00C2A8"/>
                </a:solidFill>
                <a:latin typeface="Aptos"/>
              </a:rPr>
              <a:t>02 /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900" b="1">
                <a:solidFill>
                  <a:srgbClr val="0B1F33"/>
                </a:solidFill>
                <a:latin typeface="Aptos"/>
              </a:rP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8813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5B6F81"/>
                </a:solidFill>
                <a:latin typeface="Aptos"/>
              </a:rPr>
              <a:t>Turn train information into a clear comparison and recommendation workflow.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382512"/>
            <a:ext cx="10927080" cy="13716"/>
          </a:xfrm>
          <a:prstGeom prst="rect">
            <a:avLst/>
          </a:prstGeom>
          <a:solidFill>
            <a:srgbClr val="DE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446520"/>
            <a:ext cx="7315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5B6F81"/>
                </a:solidFill>
                <a:latin typeface="Aptos"/>
              </a:rPr>
              <a:t>TRAINSMART  •  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457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00C2A8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5074920" cy="150876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2057400"/>
            <a:ext cx="100584" cy="1508760"/>
          </a:xfrm>
          <a:prstGeom prst="roundRect">
            <a:avLst>
              <a:gd name="adj" fmla="val 12000"/>
            </a:avLst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258568"/>
            <a:ext cx="182880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0B1F33"/>
                </a:solidFill>
                <a:latin typeface="Aptos"/>
              </a:rPr>
              <a:t>Compare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638044"/>
            <a:ext cx="443484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lang="en-US" sz="1400" dirty="0">
                <a:solidFill>
                  <a:srgbClr val="9DABB6"/>
                </a:solidFill>
                <a:latin typeface="Aptos" panose="020B0004020202020204" pitchFamily="34" charset="0"/>
              </a:rPr>
              <a:t>Compare fares, journey duration and stops across available train options.</a:t>
            </a:r>
            <a:endParaRPr lang="en-US" sz="1400" b="0" dirty="0">
              <a:solidFill>
                <a:srgbClr val="9DABB6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24128" y="3172968"/>
            <a:ext cx="4389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00C2A8"/>
                </a:solidFill>
                <a:latin typeface="Aptos"/>
              </a:rPr>
              <a:t>Fare • Duration • Stops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2057400"/>
            <a:ext cx="5074920" cy="150876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09359" y="2057400"/>
            <a:ext cx="100584" cy="1508760"/>
          </a:xfrm>
          <a:prstGeom prst="roundRect">
            <a:avLst>
              <a:gd name="adj" fmla="val 12000"/>
            </a:avLst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01968" y="2258568"/>
            <a:ext cx="182880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lang="en-US" sz="2000" b="1" dirty="0">
                <a:solidFill>
                  <a:srgbClr val="0B1F33"/>
                </a:solidFill>
                <a:latin typeface="Aptos"/>
              </a:rPr>
              <a:t>Select a Route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2679192"/>
            <a:ext cx="443484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lang="en-US" sz="1400" dirty="0">
                <a:solidFill>
                  <a:srgbClr val="9DABB6"/>
                </a:solidFill>
                <a:latin typeface="Aptos" panose="020B0004020202020204" pitchFamily="34" charset="0"/>
              </a:rPr>
              <a:t>Choose source and destination stations using dropdown menus.</a:t>
            </a:r>
            <a:endParaRPr sz="1400" b="0" dirty="0">
              <a:solidFill>
                <a:srgbClr val="9DABB6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01968" y="3229308"/>
            <a:ext cx="438912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dirty="0">
                <a:solidFill>
                  <a:srgbClr val="00C2A8"/>
                </a:solidFill>
                <a:latin typeface="Aptos"/>
              </a:rPr>
              <a:t>Route </a:t>
            </a:r>
            <a:endParaRPr lang="en-US" sz="1100" b="1" dirty="0">
              <a:solidFill>
                <a:srgbClr val="00C2A8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31520" y="3931920"/>
            <a:ext cx="5074920" cy="150876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1520" y="3931920"/>
            <a:ext cx="100584" cy="1508760"/>
          </a:xfrm>
          <a:prstGeom prst="roundRect">
            <a:avLst>
              <a:gd name="adj" fmla="val 12000"/>
            </a:avLst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4128" y="4133087"/>
            <a:ext cx="1951084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lang="en-US" sz="2000" b="1" dirty="0">
                <a:solidFill>
                  <a:srgbClr val="0B1F33"/>
                </a:solidFill>
                <a:latin typeface="Aptos"/>
              </a:rPr>
              <a:t>Choose a Class</a:t>
            </a:r>
            <a:endParaRPr sz="2000" b="1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24128" y="4553712"/>
            <a:ext cx="443484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lang="en-US" sz="1400" dirty="0">
                <a:solidFill>
                  <a:srgbClr val="9DABB6"/>
                </a:solidFill>
              </a:rPr>
              <a:t>Select the preferred travel class to narrow down train options.</a:t>
            </a:r>
            <a:endParaRPr sz="1400" b="0" dirty="0">
              <a:solidFill>
                <a:srgbClr val="9DABB6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46988" y="5098275"/>
            <a:ext cx="438912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lang="en-US" sz="1100" b="1" dirty="0">
                <a:solidFill>
                  <a:srgbClr val="00C2A8"/>
                </a:solidFill>
                <a:latin typeface="Aptos"/>
              </a:rPr>
              <a:t>SL , 3AC , 2AC , 1AC , GEN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59" y="3931920"/>
            <a:ext cx="5074920" cy="150876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309359" y="3931920"/>
            <a:ext cx="100584" cy="1508760"/>
          </a:xfrm>
          <a:prstGeom prst="roundRect">
            <a:avLst>
              <a:gd name="adj" fmla="val 12000"/>
            </a:avLst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01968" y="4133087"/>
            <a:ext cx="182880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lang="en-US" sz="2000" b="1" dirty="0">
                <a:solidFill>
                  <a:srgbClr val="0B1F33"/>
                </a:solidFill>
                <a:latin typeface="Aptos"/>
              </a:rPr>
              <a:t>Present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4553712"/>
            <a:ext cx="443484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5B6F81"/>
                </a:solidFill>
                <a:latin typeface="Aptos"/>
              </a:rPr>
              <a:t>Show recommendations through a simple web interface.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105371"/>
            <a:ext cx="4389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dirty="0" err="1">
                <a:solidFill>
                  <a:srgbClr val="00C2A8"/>
                </a:solidFill>
                <a:latin typeface="Aptos"/>
              </a:rPr>
              <a:t>Streamlit</a:t>
            </a:r>
            <a:r>
              <a:rPr sz="1100" b="1" dirty="0">
                <a:solidFill>
                  <a:srgbClr val="00C2A8"/>
                </a:solidFill>
                <a:latin typeface="Aptos"/>
              </a:rPr>
              <a:t>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00C2A8"/>
                </a:solidFill>
                <a:latin typeface="Aptos"/>
              </a:rPr>
              <a:t>03 /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Aptos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8813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C9D8E2"/>
                </a:solidFill>
                <a:latin typeface="Aptos"/>
              </a:rPr>
              <a:t>Each tool supports a specific part of the project workflow.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382512"/>
            <a:ext cx="10927080" cy="13716"/>
          </a:xfrm>
          <a:prstGeom prst="rect">
            <a:avLst/>
          </a:prstGeom>
          <a:solidFill>
            <a:srgbClr val="395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446520"/>
            <a:ext cx="7315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AFC3CF"/>
                </a:solidFill>
                <a:latin typeface="Aptos"/>
              </a:rPr>
              <a:t>TRAINSMART  •  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457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00C2A8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10561320" cy="566928"/>
          </a:xfrm>
          <a:prstGeom prst="roundRect">
            <a:avLst>
              <a:gd name="adj" fmla="val 12000"/>
            </a:avLst>
          </a:prstGeom>
          <a:solidFill>
            <a:srgbClr val="12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109728" cy="566928"/>
          </a:xfrm>
          <a:prstGeom prst="roundRect">
            <a:avLst>
              <a:gd name="adj" fmla="val 12000"/>
            </a:avLst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1993391"/>
            <a:ext cx="2240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020824"/>
            <a:ext cx="74066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CCDCE5"/>
                </a:solidFill>
                <a:latin typeface="Aptos"/>
              </a:rPr>
              <a:t>Core programming and application logic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624327"/>
            <a:ext cx="10561320" cy="566928"/>
          </a:xfrm>
          <a:prstGeom prst="roundRect">
            <a:avLst>
              <a:gd name="adj" fmla="val 12000"/>
            </a:avLst>
          </a:prstGeom>
          <a:solidFill>
            <a:srgbClr val="12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77240" y="2624327"/>
            <a:ext cx="109728" cy="566928"/>
          </a:xfrm>
          <a:prstGeom prst="roundRect">
            <a:avLst>
              <a:gd name="adj" fmla="val 12000"/>
            </a:avLst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8992" y="2743199"/>
            <a:ext cx="2240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Pandas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770632"/>
            <a:ext cx="74066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CCDCE5"/>
                </a:solidFill>
                <a:latin typeface="Aptos"/>
              </a:rPr>
              <a:t>Dataset cleaning, transformation and preparation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374135"/>
            <a:ext cx="10561320" cy="566928"/>
          </a:xfrm>
          <a:prstGeom prst="roundRect">
            <a:avLst>
              <a:gd name="adj" fmla="val 12000"/>
            </a:avLst>
          </a:prstGeom>
          <a:solidFill>
            <a:srgbClr val="12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77240" y="3374135"/>
            <a:ext cx="109728" cy="566928"/>
          </a:xfrm>
          <a:prstGeom prst="roundRect">
            <a:avLst>
              <a:gd name="adj" fmla="val 12000"/>
            </a:avLst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" y="3493007"/>
            <a:ext cx="2240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Scikit-learn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520439"/>
            <a:ext cx="74066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CCDCE5"/>
                </a:solidFill>
                <a:latin typeface="Aptos"/>
              </a:rPr>
              <a:t>Random Forest model and ranking workflow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123944"/>
            <a:ext cx="10561320" cy="566928"/>
          </a:xfrm>
          <a:prstGeom prst="roundRect">
            <a:avLst>
              <a:gd name="adj" fmla="val 12000"/>
            </a:avLst>
          </a:prstGeom>
          <a:solidFill>
            <a:srgbClr val="12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77240" y="4123944"/>
            <a:ext cx="109728" cy="566928"/>
          </a:xfrm>
          <a:prstGeom prst="roundRect">
            <a:avLst>
              <a:gd name="adj" fmla="val 12000"/>
            </a:avLst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78992" y="4242816"/>
            <a:ext cx="2240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Streamlit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270248"/>
            <a:ext cx="74066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CCDCE5"/>
                </a:solidFill>
                <a:latin typeface="Aptos"/>
              </a:rPr>
              <a:t>Interactive user interface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925312"/>
            <a:ext cx="100584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C2A8"/>
                </a:solidFill>
                <a:latin typeface="Aptos"/>
              </a:rPr>
              <a:t>Pipeline: Data preparation  →  Feature processing  →  Ranking  →  Streamlit results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555AB77-75E4-87A3-5D0E-999042CB7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7861" y="4861277"/>
            <a:ext cx="1169131" cy="89944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E28EFBC-864B-64B9-159E-A21E7E0D8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4445" y="4864607"/>
            <a:ext cx="1064131" cy="89611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32434D8-4FAF-DFC2-9E21-102B227A8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3273" y="4837176"/>
            <a:ext cx="1031887" cy="89611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3701C249-30DF-1111-0FDA-F49DAF04F4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9718" y="4855465"/>
            <a:ext cx="896112" cy="8961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00C2A8"/>
                </a:solidFill>
                <a:latin typeface="Aptos"/>
              </a:rPr>
              <a:t>04 /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900" b="1">
                <a:solidFill>
                  <a:srgbClr val="0B1F33"/>
                </a:solidFill>
                <a:latin typeface="Aptos"/>
              </a:rPr>
              <a:t>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8813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5B6F81"/>
                </a:solidFill>
                <a:latin typeface="Aptos"/>
              </a:rPr>
              <a:t>A straightforward flow from route selection to train recommendations.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382512"/>
            <a:ext cx="10927080" cy="13716"/>
          </a:xfrm>
          <a:prstGeom prst="rect">
            <a:avLst/>
          </a:prstGeom>
          <a:solidFill>
            <a:srgbClr val="DE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446520"/>
            <a:ext cx="7315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5B6F81"/>
                </a:solidFill>
                <a:latin typeface="Aptos"/>
              </a:rPr>
              <a:t>TRAINSMART  •  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457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00C2A8"/>
                </a:solidFill>
                <a:latin typeface="Aptos"/>
              </a:rPr>
              <a:t>05</a:t>
            </a:r>
          </a:p>
        </p:txBody>
      </p:sp>
      <p:sp>
        <p:nvSpPr>
          <p:cNvPr id="22" name="Oval 21"/>
          <p:cNvSpPr/>
          <p:nvPr/>
        </p:nvSpPr>
        <p:spPr>
          <a:xfrm>
            <a:off x="6172200" y="1993392"/>
            <a:ext cx="320040" cy="32004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29400" y="1938528"/>
            <a:ext cx="43891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0B1F33"/>
                </a:solidFill>
                <a:latin typeface="Aptos"/>
              </a:rPr>
              <a:t>Login page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249424"/>
            <a:ext cx="43891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B6F81"/>
                </a:solidFill>
                <a:latin typeface="Aptos"/>
              </a:rPr>
              <a:t>Entry point for users</a:t>
            </a:r>
          </a:p>
        </p:txBody>
      </p:sp>
      <p:sp>
        <p:nvSpPr>
          <p:cNvPr id="25" name="Oval 24"/>
          <p:cNvSpPr/>
          <p:nvPr/>
        </p:nvSpPr>
        <p:spPr>
          <a:xfrm>
            <a:off x="6172200" y="2752344"/>
            <a:ext cx="320040" cy="320040"/>
          </a:xfrm>
          <a:prstGeom prst="ellipse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29400" y="2697480"/>
            <a:ext cx="43891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0B1F33"/>
                </a:solidFill>
                <a:latin typeface="Aptos"/>
              </a:rPr>
              <a:t>Station dropdowns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3008376"/>
            <a:ext cx="43891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B6F81"/>
                </a:solidFill>
                <a:latin typeface="Aptos"/>
              </a:rPr>
              <a:t>Choose source and destination</a:t>
            </a:r>
          </a:p>
        </p:txBody>
      </p:sp>
      <p:sp>
        <p:nvSpPr>
          <p:cNvPr id="28" name="Oval 27"/>
          <p:cNvSpPr/>
          <p:nvPr/>
        </p:nvSpPr>
        <p:spPr>
          <a:xfrm>
            <a:off x="6172200" y="3511296"/>
            <a:ext cx="320040" cy="32004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29400" y="3456432"/>
            <a:ext cx="43891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0B1F33"/>
                </a:solidFill>
                <a:latin typeface="Aptos"/>
              </a:rPr>
              <a:t>Class selection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3767328"/>
            <a:ext cx="43891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B6F81"/>
                </a:solidFill>
                <a:latin typeface="Aptos"/>
              </a:rPr>
              <a:t>Filter by travel class</a:t>
            </a:r>
          </a:p>
        </p:txBody>
      </p:sp>
      <p:sp>
        <p:nvSpPr>
          <p:cNvPr id="31" name="Oval 30"/>
          <p:cNvSpPr/>
          <p:nvPr/>
        </p:nvSpPr>
        <p:spPr>
          <a:xfrm>
            <a:off x="6172200" y="4270247"/>
            <a:ext cx="320040" cy="320040"/>
          </a:xfrm>
          <a:prstGeom prst="ellipse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29400" y="4215383"/>
            <a:ext cx="43891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0B1F33"/>
                </a:solidFill>
                <a:latin typeface="Aptos"/>
              </a:rPr>
              <a:t>Recommendation button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4526279"/>
            <a:ext cx="43891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B6F81"/>
                </a:solidFill>
                <a:latin typeface="Aptos"/>
              </a:rPr>
              <a:t>Generate ranked options</a:t>
            </a:r>
          </a:p>
        </p:txBody>
      </p:sp>
      <p:sp>
        <p:nvSpPr>
          <p:cNvPr id="34" name="Oval 33"/>
          <p:cNvSpPr/>
          <p:nvPr/>
        </p:nvSpPr>
        <p:spPr>
          <a:xfrm>
            <a:off x="6172200" y="5029199"/>
            <a:ext cx="320040" cy="32004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29400" y="4974336"/>
            <a:ext cx="43891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0B1F33"/>
                </a:solidFill>
                <a:latin typeface="Aptos"/>
              </a:rPr>
              <a:t>Train details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5285231"/>
            <a:ext cx="43891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B6F81"/>
                </a:solidFill>
                <a:latin typeface="Aptos"/>
              </a:rPr>
              <a:t>Compare fare, time and stops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3DA71D8F-2FFD-20A4-A3A2-D4344CCEB3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702"/>
          <a:stretch>
            <a:fillRect/>
          </a:stretch>
        </p:blipFill>
        <p:spPr>
          <a:xfrm>
            <a:off x="317631" y="1883665"/>
            <a:ext cx="5774957" cy="36301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00C2A8"/>
                </a:solidFill>
                <a:latin typeface="Aptos"/>
              </a:rPr>
              <a:t>05 /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900" b="1">
                <a:solidFill>
                  <a:srgbClr val="0B1F33"/>
                </a:solidFill>
                <a:latin typeface="Aptos"/>
              </a:rPr>
              <a:t>How TrainSmart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8813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5B6F81"/>
                </a:solidFill>
                <a:latin typeface="Aptos"/>
              </a:rPr>
              <a:t>A clear pipeline from the train dataset to ranked results.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382512"/>
            <a:ext cx="10927080" cy="13716"/>
          </a:xfrm>
          <a:prstGeom prst="rect">
            <a:avLst/>
          </a:prstGeom>
          <a:solidFill>
            <a:srgbClr val="DE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446520"/>
            <a:ext cx="7315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5B6F81"/>
                </a:solidFill>
                <a:latin typeface="Aptos"/>
              </a:rPr>
              <a:t>TRAINSMART  •  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457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00C2A8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331720"/>
            <a:ext cx="2514600" cy="25146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95528" y="2578608"/>
            <a:ext cx="502920" cy="50292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2706624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B1F33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337560"/>
            <a:ext cx="21488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900" b="1">
                <a:solidFill>
                  <a:srgbClr val="0B1F33"/>
                </a:solidFill>
                <a:latin typeface="Aptos"/>
              </a:rPr>
              <a:t>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840480"/>
            <a:ext cx="2084831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5B6F81"/>
                </a:solidFill>
                <a:latin typeface="Aptos"/>
              </a:rPr>
              <a:t>Train records are collected and organised in a structured format.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1" y="3337560"/>
            <a:ext cx="3657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00C2A8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2152" y="2331720"/>
            <a:ext cx="2514600" cy="25146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703320" y="2578608"/>
            <a:ext cx="502920" cy="502920"/>
          </a:xfrm>
          <a:prstGeom prst="ellipse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03320" y="2706624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B1F33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337560"/>
            <a:ext cx="21488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900" b="1">
                <a:solidFill>
                  <a:srgbClr val="0B1F33"/>
                </a:solidFill>
                <a:latin typeface="Aptos"/>
              </a:rPr>
              <a:t>Prepare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3840480"/>
            <a:ext cx="2084831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5B6F81"/>
                </a:solidFill>
                <a:latin typeface="Aptos"/>
              </a:rPr>
              <a:t>Clean and transform fields such as fare, duration and stops.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44183" y="3337560"/>
            <a:ext cx="3657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00C2A8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9944" y="2331720"/>
            <a:ext cx="2514600" cy="25146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611112" y="2578608"/>
            <a:ext cx="502920" cy="50292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1112" y="2706624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B1F33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1112" y="3337560"/>
            <a:ext cx="21488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900" b="1">
                <a:solidFill>
                  <a:srgbClr val="0B1F33"/>
                </a:solidFill>
                <a:latin typeface="Aptos"/>
              </a:rPr>
              <a:t>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3840480"/>
            <a:ext cx="2084831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5B6F81"/>
                </a:solidFill>
                <a:latin typeface="Aptos"/>
              </a:rPr>
              <a:t>Use the ranking approach to evaluate available train options.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51976" y="3337560"/>
            <a:ext cx="3657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00C2A8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17736" y="2331720"/>
            <a:ext cx="2514600" cy="25146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518904" y="2578608"/>
            <a:ext cx="502920" cy="502920"/>
          </a:xfrm>
          <a:prstGeom prst="ellipse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18904" y="2706624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B1F33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18904" y="3337560"/>
            <a:ext cx="21488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900" b="1">
                <a:solidFill>
                  <a:srgbClr val="0B1F33"/>
                </a:solidFill>
                <a:latin typeface="Aptos"/>
              </a:rPr>
              <a:t>Recommend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18904" y="3840480"/>
            <a:ext cx="2084831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5B6F81"/>
                </a:solidFill>
                <a:latin typeface="Aptos"/>
              </a:rPr>
              <a:t>Display ranked options in the Streamlit interface.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5257800"/>
            <a:ext cx="10652760" cy="594360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5840" y="5422392"/>
            <a:ext cx="1014984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Input: route + class  |  Processing: prepared features + ranking  |  Output: ordered train options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00C2A8"/>
                </a:solidFill>
                <a:latin typeface="Aptos"/>
              </a:rPr>
              <a:t>06 / RANKING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900" b="1">
                <a:solidFill>
                  <a:srgbClr val="0B1F33"/>
                </a:solidFill>
                <a:latin typeface="Aptos"/>
              </a:rPr>
              <a:t>A consistent way to compare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8813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5B6F81"/>
                </a:solidFill>
                <a:latin typeface="Aptos"/>
              </a:rPr>
              <a:t>The project uses a weighted utility score to balance three key travel factors.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382512"/>
            <a:ext cx="10927080" cy="13716"/>
          </a:xfrm>
          <a:prstGeom prst="rect">
            <a:avLst/>
          </a:prstGeom>
          <a:solidFill>
            <a:srgbClr val="DE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446520"/>
            <a:ext cx="7315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5B6F81"/>
                </a:solidFill>
                <a:latin typeface="Aptos"/>
              </a:rPr>
              <a:t>TRAINSMART  •  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457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00C2A8"/>
                </a:solidFill>
                <a:latin typeface="Aptos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22860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0B1F33"/>
                </a:solidFill>
                <a:latin typeface="Aptos"/>
              </a:rPr>
              <a:t>Fare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2167128"/>
            <a:ext cx="5852160" cy="320040"/>
          </a:xfrm>
          <a:prstGeom prst="roundRect">
            <a:avLst>
              <a:gd name="adj" fmla="val 12000"/>
            </a:avLst>
          </a:prstGeom>
          <a:solidFill>
            <a:srgbClr val="DE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154680" y="2167128"/>
            <a:ext cx="2340864" cy="320040"/>
          </a:xfrm>
          <a:prstGeom prst="roundRect">
            <a:avLst>
              <a:gd name="adj" fmla="val 12000"/>
            </a:avLst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81160" y="2130552"/>
            <a:ext cx="10972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0B1F33"/>
                </a:solidFill>
                <a:latin typeface="Aptos"/>
              </a:rPr>
              <a:t>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108960"/>
            <a:ext cx="22860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0B1F33"/>
                </a:solidFill>
                <a:latin typeface="Aptos"/>
              </a:rPr>
              <a:t>Journey duration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3127248"/>
            <a:ext cx="5852160" cy="320040"/>
          </a:xfrm>
          <a:prstGeom prst="roundRect">
            <a:avLst>
              <a:gd name="adj" fmla="val 12000"/>
            </a:avLst>
          </a:prstGeom>
          <a:solidFill>
            <a:srgbClr val="DE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154680" y="3127248"/>
            <a:ext cx="2340864" cy="320040"/>
          </a:xfrm>
          <a:prstGeom prst="roundRect">
            <a:avLst>
              <a:gd name="adj" fmla="val 12000"/>
            </a:avLst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81160" y="3090672"/>
            <a:ext cx="10972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0B1F33"/>
                </a:solidFill>
                <a:latin typeface="Aptos"/>
              </a:rPr>
              <a:t>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69080"/>
            <a:ext cx="22860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0B1F33"/>
                </a:solidFill>
                <a:latin typeface="Aptos"/>
              </a:rPr>
              <a:t>Number of stops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4680" y="4087368"/>
            <a:ext cx="5852160" cy="320040"/>
          </a:xfrm>
          <a:prstGeom prst="roundRect">
            <a:avLst>
              <a:gd name="adj" fmla="val 12000"/>
            </a:avLst>
          </a:prstGeom>
          <a:solidFill>
            <a:srgbClr val="DE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154680" y="4087368"/>
            <a:ext cx="1170432" cy="320040"/>
          </a:xfrm>
          <a:prstGeom prst="roundRect">
            <a:avLst>
              <a:gd name="adj" fmla="val 12000"/>
            </a:avLst>
          </a:prstGeom>
          <a:solidFill>
            <a:srgbClr val="12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81160" y="4050792"/>
            <a:ext cx="10972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0B1F33"/>
                </a:solidFill>
                <a:latin typeface="Aptos"/>
              </a:rPr>
              <a:t>20%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349240"/>
            <a:ext cx="105613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5504688"/>
            <a:ext cx="100584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5B6F81"/>
                </a:solidFill>
                <a:latin typeface="Aptos"/>
              </a:rPr>
              <a:t>Lower fare, shorter duration and fewer stops are preferred by the scoring logic.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6053328"/>
            <a:ext cx="104241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5B6F81"/>
                </a:solidFill>
                <a:latin typeface="Aptos"/>
              </a:rPr>
              <a:t>Weights shown are the project's configured utility weights; validate normalisation and model behaviour against the implementation.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00C2A8"/>
                </a:solidFill>
                <a:latin typeface="Aptos"/>
              </a:rPr>
              <a:t>07 / 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Aptos"/>
              </a:rPr>
              <a:t>Making train comparison simpler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8813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C9D8E2"/>
                </a:solidFill>
                <a:latin typeface="Aptos"/>
              </a:rPr>
              <a:t>TrainSmart brings train attributes, route selection and ranking into one interface.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382512"/>
            <a:ext cx="10927080" cy="13716"/>
          </a:xfrm>
          <a:prstGeom prst="rect">
            <a:avLst/>
          </a:prstGeom>
          <a:solidFill>
            <a:srgbClr val="395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446520"/>
            <a:ext cx="7315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AFC3CF"/>
                </a:solidFill>
                <a:latin typeface="Aptos"/>
              </a:rPr>
              <a:t>TRAINSMART  •  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457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00C2A8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6492240" cy="3246120"/>
          </a:xfrm>
          <a:prstGeom prst="roundRect">
            <a:avLst>
              <a:gd name="adj" fmla="val 12000"/>
            </a:avLst>
          </a:prstGeom>
          <a:solidFill>
            <a:srgbClr val="12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530352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ptos"/>
              </a:rPr>
              <a:t>What the project demonstrates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907792"/>
            <a:ext cx="5577840" cy="1828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D7E4EC"/>
                </a:solidFill>
                <a:latin typeface="Aptos"/>
              </a:defRPr>
            </a:pPr>
            <a:r>
              <a:t>• Structured train data processing</a:t>
            </a:r>
          </a:p>
          <a:p>
            <a:pPr>
              <a:spcAft>
                <a:spcPts val="1200"/>
              </a:spcAft>
              <a:defRPr sz="1600">
                <a:solidFill>
                  <a:srgbClr val="D7E4EC"/>
                </a:solidFill>
                <a:latin typeface="Aptos"/>
              </a:defRPr>
            </a:pPr>
            <a:r>
              <a:t>• Feature-based comparison and ranking</a:t>
            </a:r>
          </a:p>
          <a:p>
            <a:pPr>
              <a:spcAft>
                <a:spcPts val="1200"/>
              </a:spcAft>
              <a:defRPr sz="1600">
                <a:solidFill>
                  <a:srgbClr val="D7E4EC"/>
                </a:solidFill>
                <a:latin typeface="Aptos"/>
              </a:defRPr>
            </a:pPr>
            <a:r>
              <a:t>• Interactive Streamlit application</a:t>
            </a:r>
          </a:p>
          <a:p>
            <a:pPr>
              <a:spcAft>
                <a:spcPts val="1200"/>
              </a:spcAft>
              <a:defRPr sz="1600">
                <a:solidFill>
                  <a:srgbClr val="D7E4EC"/>
                </a:solidFill>
                <a:latin typeface="Aptos"/>
              </a:defRPr>
            </a:pPr>
            <a:r>
              <a:t>• Practical use of Python and machine-learning tools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011680"/>
            <a:ext cx="3657600" cy="3246120"/>
          </a:xfrm>
          <a:prstGeom prst="roundRect">
            <a:avLst>
              <a:gd name="adj" fmla="val 12000"/>
            </a:avLst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79" y="2395728"/>
            <a:ext cx="30175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0B1F33"/>
                </a:solidFill>
                <a:latin typeface="Aptos"/>
              </a:rPr>
              <a:t>Future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73568" y="2971800"/>
            <a:ext cx="2834640" cy="1645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0B1F33"/>
                </a:solidFill>
                <a:latin typeface="Aptos"/>
              </a:defRPr>
            </a:pPr>
            <a:r>
              <a:t>• Integrate verified live train data</a:t>
            </a:r>
          </a:p>
          <a:p>
            <a:pPr>
              <a:spcAft>
                <a:spcPts val="1200"/>
              </a:spcAft>
              <a:defRPr sz="1400">
                <a:solidFill>
                  <a:srgbClr val="0B1F33"/>
                </a:solidFill>
                <a:latin typeface="Aptos"/>
              </a:defRPr>
            </a:pPr>
            <a:r>
              <a:t>• Add more traveller preferences</a:t>
            </a:r>
          </a:p>
          <a:p>
            <a:pPr>
              <a:spcAft>
                <a:spcPts val="1200"/>
              </a:spcAft>
              <a:defRPr sz="1400">
                <a:solidFill>
                  <a:srgbClr val="0B1F33"/>
                </a:solidFill>
                <a:latin typeface="Aptos"/>
              </a:defRPr>
            </a:pPr>
            <a:r>
              <a:t>• Improve interface and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715000"/>
            <a:ext cx="91440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5806440"/>
            <a:ext cx="219456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endParaRPr lang="en-US" sz="1400" b="1" dirty="0">
              <a:solidFill>
                <a:srgbClr val="00C2A8"/>
              </a:solidFill>
              <a:latin typeface="Aptos"/>
            </a:endParaRPr>
          </a:p>
          <a:p>
            <a:pPr algn="r">
              <a:spcAft>
                <a:spcPts val="0"/>
              </a:spcAft>
            </a:pPr>
            <a:endParaRPr sz="1400" b="1" dirty="0">
              <a:solidFill>
                <a:srgbClr val="00C2A8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556</Words>
  <Application>Microsoft Office PowerPoint</Application>
  <PresentationFormat>Widescreen</PresentationFormat>
  <Paragraphs>117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pc</cp:lastModifiedBy>
  <cp:revision>2</cp:revision>
  <dcterms:created xsi:type="dcterms:W3CDTF">2013-01-27T09:14:16Z</dcterms:created>
  <dcterms:modified xsi:type="dcterms:W3CDTF">2026-10-25T13:24:41Z</dcterms:modified>
  <cp:category/>
</cp:coreProperties>
</file>